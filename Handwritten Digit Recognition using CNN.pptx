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86" r:id="rId5"/>
    <p:sldId id="258" r:id="rId6"/>
    <p:sldId id="287" r:id="rId7"/>
    <p:sldId id="278" r:id="rId8"/>
    <p:sldId id="291" r:id="rId9"/>
    <p:sldId id="290" r:id="rId10"/>
    <p:sldId id="292" r:id="rId11"/>
    <p:sldId id="293" r:id="rId12"/>
    <p:sldId id="294" r:id="rId13"/>
    <p:sldId id="266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BE6C-B3D9-DFF8-4C08-7D14CE50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5833F-7CA5-680A-3DDB-0C2BB44A6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A833F-32DE-0D10-C3C0-4D7909558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F40B2-9ED2-54B2-A08D-F0E692C5A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99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B93C7-CFE8-502E-41E9-E5CE2747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04BF0-8546-5749-B244-4EC25B4B4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A8B85-F3DD-BDC7-9D95-7EB262CCE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D795-47B1-2513-448B-B62075B35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308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72648-D6CB-B6CE-81F8-7C86FA30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31B3C-0EFA-ADDA-29E6-9C8F9A8AD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A39C6-E04C-D1FB-8FF8-5510B6D7F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9C161-AE80-F14C-5AA3-2B2D44303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76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7A4-37E4-A0AF-8B2C-58171407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FCB7A-5022-8F5B-CD3F-0BDB6DA24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C740F-21FF-ED43-D9A7-D51A903BF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17741-3243-F548-C247-9DA016D34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11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BB4C0-7248-F9CC-1E3D-85196455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2CE8C-E5F8-814C-2096-A3B015596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EDFAA-2379-7200-58D1-B23B2C27B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D0B89-9F1B-E79D-2446-440A67898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122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0FA08-3931-21F6-0CF2-661FCB93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1E05A-3902-1177-04A0-E91C18959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992EA-5392-BCFA-4EF1-DD9A1A717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4058F-8149-2DC3-FC19-3B2E2B9EA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72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7E48-828F-B86B-C3F1-EC17D083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2B2BB-C5CE-5491-F7F9-711F675CC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17FF6-52BD-C310-FEAC-F8D322765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DE7AA-B470-637B-86BD-C14866D52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350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supriyarath424@gmail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65A3B-1D72-AF1C-F092-5C1F4A97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4B32-175C-573A-8815-39695B39A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2178" y="682524"/>
            <a:ext cx="5921586" cy="3852989"/>
          </a:xfrm>
        </p:spPr>
        <p:txBody>
          <a:bodyPr/>
          <a:lstStyle/>
          <a:p>
            <a:r>
              <a:rPr lang="en-IN" b="1" dirty="0"/>
              <a:t>Handwritten Digit Recognition using CNN</a:t>
            </a:r>
            <a:br>
              <a:rPr lang="en-IN" b="1" dirty="0"/>
            </a:br>
            <a:br>
              <a:rPr lang="en-IN" dirty="0"/>
            </a:b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DCC4D4-4753-32DF-A45D-3790FA24C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9FE230C-4E3B-EA08-5E29-C3F824F003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9441" r="19441"/>
          <a:stretch>
            <a:fillRect/>
          </a:stretch>
        </p:blipFill>
        <p:spPr/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943FACF-0609-6802-293A-D5739E428E29}"/>
              </a:ext>
            </a:extLst>
          </p:cNvPr>
          <p:cNvSpPr txBox="1">
            <a:spLocks/>
          </p:cNvSpPr>
          <p:nvPr/>
        </p:nvSpPr>
        <p:spPr>
          <a:xfrm>
            <a:off x="5712178" y="254643"/>
            <a:ext cx="5921586" cy="38529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Presented by –Supriya rath</a:t>
            </a:r>
          </a:p>
        </p:txBody>
      </p:sp>
    </p:spTree>
    <p:extLst>
      <p:ext uri="{BB962C8B-B14F-4D97-AF65-F5344CB8AC3E}">
        <p14:creationId xmlns:p14="http://schemas.microsoft.com/office/powerpoint/2010/main" val="199052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48" y="589280"/>
            <a:ext cx="7288282" cy="1017937"/>
          </a:xfrm>
        </p:spPr>
        <p:txBody>
          <a:bodyPr/>
          <a:lstStyle/>
          <a:p>
            <a:r>
              <a:rPr lang="en-US" u="sng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248" y="192995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What is Handwritten Digit Recognition?</a:t>
            </a:r>
          </a:p>
          <a:p>
            <a:pPr lvl="1"/>
            <a:r>
              <a:rPr lang="en-US" dirty="0"/>
              <a:t>Handwritten Digit Recognition is a computer vision task where a machine identifies numerical digits (0–9) written by humans. </a:t>
            </a:r>
          </a:p>
          <a:p>
            <a:pPr lvl="1"/>
            <a:r>
              <a:rPr lang="en-US" dirty="0"/>
              <a:t>It is widely used in postal mail sorting, bank cheque verification, form reading, and OCR systems.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9A3EA88-D592-5A2C-394D-8E77C4860D2D}"/>
              </a:ext>
            </a:extLst>
          </p:cNvPr>
          <p:cNvSpPr txBox="1">
            <a:spLocks/>
          </p:cNvSpPr>
          <p:nvPr/>
        </p:nvSpPr>
        <p:spPr>
          <a:xfrm>
            <a:off x="1322248" y="4205783"/>
            <a:ext cx="7288212" cy="340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Why CNN?</a:t>
            </a:r>
          </a:p>
          <a:p>
            <a:pPr lvl="1"/>
            <a:r>
              <a:rPr lang="en-US" dirty="0"/>
              <a:t>CNN detects edges , patterns, and shapes from images.</a:t>
            </a:r>
          </a:p>
          <a:p>
            <a:pPr lvl="1"/>
            <a:r>
              <a:rPr lang="en-US" dirty="0"/>
              <a:t>CNN automatically reduces computation using pooling layers.</a:t>
            </a:r>
          </a:p>
          <a:p>
            <a:pPr lvl="1"/>
            <a:r>
              <a:rPr lang="en-US" dirty="0"/>
              <a:t>CNN gives very high accuracy on images datasets like MNIST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303A-811F-6687-9953-1F3F0F97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87E8-3145-51BA-1937-2719F8C2A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823" y="325939"/>
            <a:ext cx="7288282" cy="1208022"/>
          </a:xfrm>
        </p:spPr>
        <p:txBody>
          <a:bodyPr/>
          <a:lstStyle/>
          <a:p>
            <a:r>
              <a:rPr lang="en-IN" u="sng" dirty="0"/>
              <a:t>MNIST Dataset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69615-8BD9-B013-B1CE-7ACFF2BA4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39893" y="1916988"/>
            <a:ext cx="7288212" cy="3407051"/>
          </a:xfrm>
        </p:spPr>
        <p:txBody>
          <a:bodyPr>
            <a:normAutofit/>
          </a:bodyPr>
          <a:lstStyle/>
          <a:p>
            <a:r>
              <a:rPr lang="en-IN" dirty="0"/>
              <a:t>About MNIST Dataset</a:t>
            </a:r>
          </a:p>
          <a:p>
            <a:pPr lvl="1"/>
            <a:r>
              <a:rPr lang="en-IN" dirty="0"/>
              <a:t>MNIST = Modified National </a:t>
            </a:r>
            <a:r>
              <a:rPr lang="en-IN" dirty="0" err="1"/>
              <a:t>Instituteof</a:t>
            </a:r>
            <a:r>
              <a:rPr lang="en-IN" dirty="0"/>
              <a:t> Standards and Technology.</a:t>
            </a:r>
          </a:p>
          <a:p>
            <a:pPr lvl="1"/>
            <a:r>
              <a:rPr lang="en-IN" dirty="0"/>
              <a:t>Contains </a:t>
            </a:r>
            <a:r>
              <a:rPr lang="en-IN" b="1" dirty="0"/>
              <a:t>70,000 handwritten digit images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60,000 training AND 10,000 test </a:t>
            </a:r>
          </a:p>
          <a:p>
            <a:pPr lvl="1"/>
            <a:r>
              <a:rPr lang="en-IN" dirty="0"/>
              <a:t>Each image: </a:t>
            </a:r>
            <a:r>
              <a:rPr lang="en-IN" b="1" dirty="0"/>
              <a:t>28 × 28 pixels</a:t>
            </a:r>
            <a:r>
              <a:rPr lang="en-IN" dirty="0"/>
              <a:t>, </a:t>
            </a:r>
            <a:r>
              <a:rPr lang="en-IN" b="1" dirty="0"/>
              <a:t>grayscale</a:t>
            </a:r>
            <a:r>
              <a:rPr lang="en-IN" dirty="0"/>
              <a:t>, digit </a:t>
            </a:r>
            <a:r>
              <a:rPr lang="en-IN" dirty="0" err="1"/>
              <a:t>centered</a:t>
            </a:r>
            <a:endParaRPr lang="en-IN" dirty="0"/>
          </a:p>
          <a:p>
            <a:pPr lvl="1"/>
            <a:r>
              <a:rPr lang="en-US" dirty="0"/>
              <a:t>Dataset is already pre-labeled (0–9), making it ideal for training supervised models.</a:t>
            </a:r>
          </a:p>
          <a:p>
            <a:pPr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4FFFC-7C40-00EF-D3DF-C6F64D76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441A49-006D-0CF0-EB72-736FC45A2EDF}"/>
              </a:ext>
            </a:extLst>
          </p:cNvPr>
          <p:cNvSpPr txBox="1"/>
          <p:nvPr/>
        </p:nvSpPr>
        <p:spPr>
          <a:xfrm>
            <a:off x="1339823" y="5098420"/>
            <a:ext cx="6112042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ui-sans-serif"/>
              </a:rPr>
              <a:t>Why MNIST is Important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Simple and widely used benchmark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D0D0D"/>
                </a:solidFill>
                <a:latin typeface="ui-sans-serif"/>
              </a:rPr>
              <a:t>Helps beginners understand image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CNN models reach 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98–99% accuracy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easily.</a:t>
            </a:r>
          </a:p>
          <a:p>
            <a:pPr>
              <a:buNone/>
            </a:pPr>
            <a:br>
              <a:rPr lang="en-US" dirty="0"/>
            </a:br>
            <a:br>
              <a:rPr lang="en-US" dirty="0"/>
            </a:br>
            <a:br>
              <a:rPr lang="en-IN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69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DA3C3-A980-5F5D-1AB0-713A62FD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69" y="327104"/>
            <a:ext cx="10145541" cy="3419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5E721D-4F94-1A64-071D-5495C9CD9A17}"/>
              </a:ext>
            </a:extLst>
          </p:cNvPr>
          <p:cNvSpPr txBox="1"/>
          <p:nvPr/>
        </p:nvSpPr>
        <p:spPr>
          <a:xfrm>
            <a:off x="1283367" y="4241899"/>
            <a:ext cx="676976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 CNN Architecture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Uses Conv,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ui-sans-serif"/>
              </a:rPr>
              <a:t>ReLU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Pooling, Fully Connected layers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Learns edges, patterns, shapes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Ideal for image tasks like MNIST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C5E17-D5AF-8972-DE0E-0E061E4C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D5AD29-23B0-5CDA-0904-C0E86509B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60" y="402835"/>
            <a:ext cx="7792919" cy="61718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14C2E6-9B53-F89E-6016-E4094DAC1C1B}"/>
              </a:ext>
            </a:extLst>
          </p:cNvPr>
          <p:cNvSpPr txBox="1"/>
          <p:nvPr/>
        </p:nvSpPr>
        <p:spPr>
          <a:xfrm>
            <a:off x="8341895" y="2423264"/>
            <a:ext cx="60960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ui-sans-serif"/>
              </a:rPr>
              <a:t>Data Preprocessing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ui-sans-serif"/>
              </a:rPr>
              <a:t>Normalize images (0–1)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ui-sans-serif"/>
              </a:rPr>
              <a:t>Reshape to 28×28×1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ui-sans-serif"/>
              </a:rPr>
              <a:t>One-hot encode labels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ui-sans-serif"/>
              </a:rPr>
              <a:t>MNIST split: 60k train, 10k test</a:t>
            </a:r>
          </a:p>
        </p:txBody>
      </p:sp>
    </p:spTree>
    <p:extLst>
      <p:ext uri="{BB962C8B-B14F-4D97-AF65-F5344CB8AC3E}">
        <p14:creationId xmlns:p14="http://schemas.microsoft.com/office/powerpoint/2010/main" val="1808692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2B97-715D-13AC-1E8C-559D04DD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96D5-56B8-8A76-C6CF-341734867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4BBC28-44F6-C033-7BE4-AFD5E76A5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32" y="232389"/>
            <a:ext cx="10126488" cy="48489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775E32-D291-D6F0-8935-005ECBD773D4}"/>
              </a:ext>
            </a:extLst>
          </p:cNvPr>
          <p:cNvSpPr txBox="1"/>
          <p:nvPr/>
        </p:nvSpPr>
        <p:spPr>
          <a:xfrm>
            <a:off x="1044432" y="5081291"/>
            <a:ext cx="60960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Training the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Loss: Categorical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ui-sans-serif"/>
              </a:rPr>
              <a:t>Crossentropy</a:t>
            </a:r>
            <a:endParaRPr lang="en-US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Optimizer: Adam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Trained for several epochs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Learns digit strokes + shapes</a:t>
            </a:r>
          </a:p>
        </p:txBody>
      </p:sp>
    </p:spTree>
    <p:extLst>
      <p:ext uri="{BB962C8B-B14F-4D97-AF65-F5344CB8AC3E}">
        <p14:creationId xmlns:p14="http://schemas.microsoft.com/office/powerpoint/2010/main" val="37934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9863-02FA-E8E4-BF5B-BD78728AB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D3C98C-2392-98D0-BD2C-2F00B6D32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35" y="256732"/>
            <a:ext cx="7531481" cy="63445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54DF90-6DB1-FABD-BF33-D2E971E3734B}"/>
              </a:ext>
            </a:extLst>
          </p:cNvPr>
          <p:cNvSpPr txBox="1"/>
          <p:nvPr/>
        </p:nvSpPr>
        <p:spPr>
          <a:xfrm>
            <a:off x="8622344" y="2790362"/>
            <a:ext cx="60960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Evaluation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Tested on 10k images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Achieved ~95% accuracy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Confusion matrix shows simila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 digits misclassified</a:t>
            </a:r>
          </a:p>
        </p:txBody>
      </p:sp>
    </p:spTree>
    <p:extLst>
      <p:ext uri="{BB962C8B-B14F-4D97-AF65-F5344CB8AC3E}">
        <p14:creationId xmlns:p14="http://schemas.microsoft.com/office/powerpoint/2010/main" val="2424283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E80E5-CCAD-5BAE-0577-36CA1950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793A8D-6421-AEE6-8478-424DDF4B5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96" y="204337"/>
            <a:ext cx="8258930" cy="6449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DFB2D2-A1F0-1BFA-336B-BD0A7E6C8FC6}"/>
              </a:ext>
            </a:extLst>
          </p:cNvPr>
          <p:cNvSpPr txBox="1"/>
          <p:nvPr/>
        </p:nvSpPr>
        <p:spPr>
          <a:xfrm>
            <a:off x="8582526" y="2790362"/>
            <a:ext cx="60960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Predictions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Works on clear + tilted handwriting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Predicts digits reliably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Shows strong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83664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7CFB-D85E-D78C-E41B-A265A916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A4471A-D6BE-0726-38FE-43EE2DCF0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355228"/>
            <a:ext cx="2947465" cy="24489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449301-F3B1-0851-FB5F-373C40071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221" y="355228"/>
            <a:ext cx="3054286" cy="24489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DA444D-D600-BA5F-BB17-BEAE1DD17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801" y="278078"/>
            <a:ext cx="3287239" cy="2543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EB0CEC-B2A6-AD06-A6AE-1E52517A44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121" y="3074305"/>
            <a:ext cx="3681100" cy="26753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E5FD74-D6C8-0B34-BB91-F646918F6C73}"/>
              </a:ext>
            </a:extLst>
          </p:cNvPr>
          <p:cNvSpPr txBox="1"/>
          <p:nvPr/>
        </p:nvSpPr>
        <p:spPr>
          <a:xfrm>
            <a:off x="6301364" y="3680428"/>
            <a:ext cx="6096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Applications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Bank cheque reading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Postal code sorting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OCR systems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Digital form processing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Handwriting input on devices</a:t>
            </a:r>
          </a:p>
        </p:txBody>
      </p:sp>
    </p:spTree>
    <p:extLst>
      <p:ext uri="{BB962C8B-B14F-4D97-AF65-F5344CB8AC3E}">
        <p14:creationId xmlns:p14="http://schemas.microsoft.com/office/powerpoint/2010/main" val="331404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76874" y="3211595"/>
            <a:ext cx="5907176" cy="253682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A CNN-based model was successfully built for handwritten digit recognition.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Achieved 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~95% accuracy on test data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The model can classify handwritten digits with high reliability.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MNIST dataset is ideal for beginners and demonstrates the power of CNNs in image classification tasks.</a:t>
            </a:r>
          </a:p>
          <a:p>
            <a:br>
              <a:rPr lang="en-US" dirty="0"/>
            </a:b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9B6860A2-6053-991A-A3BC-9C86588F01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0145" r="1014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199" y="3238103"/>
            <a:ext cx="6882063" cy="2850181"/>
          </a:xfrm>
        </p:spPr>
        <p:txBody>
          <a:bodyPr>
            <a:noAutofit/>
          </a:bodyPr>
          <a:lstStyle/>
          <a:p>
            <a:r>
              <a:rPr lang="en-US" dirty="0"/>
              <a:t>Supriya rath</a:t>
            </a:r>
          </a:p>
          <a:p>
            <a:r>
              <a:rPr lang="en-US" dirty="0">
                <a:hlinkClick r:id="rId3"/>
              </a:rPr>
              <a:t>supriyarath424@gmail.com</a:t>
            </a:r>
            <a:endParaRPr lang="en-US" dirty="0"/>
          </a:p>
          <a:p>
            <a:r>
              <a:rPr lang="en-US" dirty="0"/>
              <a:t>supriya231003003220@technoindiaeducation.com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86</TotalTime>
  <Words>369</Words>
  <Application>Microsoft Office PowerPoint</Application>
  <PresentationFormat>Widescreen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Tenorite</vt:lpstr>
      <vt:lpstr>ui-sans-serif</vt:lpstr>
      <vt:lpstr>Custom</vt:lpstr>
      <vt:lpstr>Handwritten Digit Recognition using CNN  </vt:lpstr>
      <vt:lpstr>INTRODUCTION</vt:lpstr>
      <vt:lpstr>MNIST Dataset Details</vt:lpstr>
      <vt:lpstr>The Power of Communication</vt:lpstr>
      <vt:lpstr>PowerPoint Presentation</vt:lpstr>
      <vt:lpstr>The Power of Communication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ranjan</dc:creator>
  <cp:lastModifiedBy>priyanshu ranjan</cp:lastModifiedBy>
  <cp:revision>3</cp:revision>
  <dcterms:created xsi:type="dcterms:W3CDTF">2025-11-21T08:03:59Z</dcterms:created>
  <dcterms:modified xsi:type="dcterms:W3CDTF">2025-11-21T09:31:21Z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